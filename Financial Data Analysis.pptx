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3" r:id="rId7"/>
    <p:sldId id="261" r:id="rId8"/>
    <p:sldId id="262" r:id="rId9"/>
    <p:sldId id="263" r:id="rId10"/>
    <p:sldId id="271" r:id="rId11"/>
    <p:sldId id="276" r:id="rId12"/>
    <p:sldId id="264" r:id="rId13"/>
    <p:sldId id="265" r:id="rId14"/>
    <p:sldId id="266" r:id="rId15"/>
    <p:sldId id="272" r:id="rId16"/>
    <p:sldId id="274" r:id="rId17"/>
    <p:sldId id="267" r:id="rId18"/>
    <p:sldId id="268" r:id="rId19"/>
    <p:sldId id="269" r:id="rId20"/>
    <p:sldId id="270" r:id="rId21"/>
  </p:sldIdLst>
  <p:sldSz cx="18288000" cy="10287000"/>
  <p:notesSz cx="6858000" cy="9144000"/>
  <p:embeddedFontLst>
    <p:embeddedFont>
      <p:font typeface="Calibri (MS) Bold" panose="020B0604020202020204" charset="0"/>
      <p:bold r:id="rId22"/>
    </p:embeddedFont>
    <p:embeddedFont>
      <p:font typeface="League Spartan" panose="020B0604020202020204" charset="0"/>
      <p:bold r:id="rId23"/>
    </p:embeddedFont>
    <p:embeddedFont>
      <p:font typeface="Libre Baskerville" panose="02000000000000000000" pitchFamily="2" charset="0"/>
      <p:regular r:id="rId24"/>
      <p:bold r:id="rId25"/>
      <p:italic r:id="rId26"/>
    </p:embeddedFont>
    <p:embeddedFont>
      <p:font typeface="Poppins Ultra-Bold" panose="020B0604020202020204" charset="0"/>
      <p:bold r:id="rId27"/>
    </p:embeddedFont>
    <p:embeddedFont>
      <p:font typeface="Times New Roman Bold" panose="02020803070505020304" pitchFamily="18" charset="0"/>
      <p:bold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61FB07-4375-4FDF-9653-AFA8FC777A22}" v="11" dt="2025-11-08T16:48:40.4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51" d="100"/>
          <a:sy n="51" d="100"/>
        </p:scale>
        <p:origin x="29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21348" y="9277476"/>
            <a:ext cx="4838096" cy="1009524"/>
            <a:chOff x="0" y="0"/>
            <a:chExt cx="6450794" cy="13460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38988" y="0"/>
            <a:ext cx="18286222" cy="10041147"/>
            <a:chOff x="0" y="0"/>
            <a:chExt cx="24381630" cy="1338819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1588" cy="13388212"/>
            </a:xfrm>
            <a:custGeom>
              <a:avLst/>
              <a:gdLst/>
              <a:ahLst/>
              <a:cxnLst/>
              <a:rect l="l" t="t" r="r" b="b"/>
              <a:pathLst>
                <a:path w="24381588" h="13388212">
                  <a:moveTo>
                    <a:pt x="0" y="0"/>
                  </a:moveTo>
                  <a:lnTo>
                    <a:pt x="24381588" y="0"/>
                  </a:lnTo>
                  <a:lnTo>
                    <a:pt x="24381588" y="13388212"/>
                  </a:lnTo>
                  <a:lnTo>
                    <a:pt x="0" y="13388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242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887291" y="6052281"/>
            <a:ext cx="10513418" cy="2190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80"/>
              </a:lnSpc>
              <a:spcBef>
                <a:spcPct val="0"/>
              </a:spcBef>
            </a:pPr>
            <a:r>
              <a:rPr lang="en-US" sz="6200" dirty="0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Financial Data Analysis </a:t>
            </a:r>
          </a:p>
          <a:p>
            <a:pPr algn="ctr">
              <a:lnSpc>
                <a:spcPts val="8680"/>
              </a:lnSpc>
              <a:spcBef>
                <a:spcPct val="0"/>
              </a:spcBef>
            </a:pPr>
            <a:r>
              <a:rPr lang="en-US" sz="6200" dirty="0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 </a:t>
            </a:r>
            <a:r>
              <a:rPr lang="en-US" sz="6200" dirty="0">
                <a:solidFill>
                  <a:srgbClr val="FFBD59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21348" y="9277476"/>
            <a:ext cx="4838096" cy="1009524"/>
            <a:chOff x="0" y="0"/>
            <a:chExt cx="6450794" cy="13460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2833949" y="410256"/>
            <a:ext cx="15773400" cy="1988344"/>
            <a:chOff x="0" y="0"/>
            <a:chExt cx="21031200" cy="2651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30"/>
                </a:lnSpc>
              </a:pPr>
              <a:r>
                <a:rPr lang="en-US" sz="6600" b="1">
                  <a:solidFill>
                    <a:srgbClr val="FF000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Agenda  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318164" y="2293826"/>
            <a:ext cx="17821865" cy="6515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8365" lvl="1" indent="-444500" algn="l">
              <a:lnSpc>
                <a:spcPts val="5760"/>
              </a:lnSpc>
              <a:buFont typeface="Arial" panose="020B0604020202020204"/>
              <a:buChar char="•"/>
            </a:pPr>
            <a:r>
              <a:rPr lang="en-US" sz="4115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Project Overview</a:t>
            </a:r>
          </a:p>
          <a:p>
            <a:pPr marL="888365" lvl="1" indent="-444500" algn="l">
              <a:lnSpc>
                <a:spcPts val="5760"/>
              </a:lnSpc>
              <a:buFont typeface="Arial" panose="020B0604020202020204"/>
              <a:buChar char="•"/>
            </a:pPr>
            <a:r>
              <a:rPr lang="en-US" sz="4115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Data Source</a:t>
            </a:r>
          </a:p>
          <a:p>
            <a:pPr marL="888365" lvl="1" indent="-444500" algn="l">
              <a:lnSpc>
                <a:spcPts val="5760"/>
              </a:lnSpc>
              <a:buFont typeface="Arial" panose="020B0604020202020204"/>
              <a:buChar char="•"/>
            </a:pPr>
            <a:r>
              <a:rPr lang="en-US" sz="4115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Data Preparation</a:t>
            </a:r>
          </a:p>
          <a:p>
            <a:pPr marL="888365" lvl="1" indent="-444500" algn="l">
              <a:lnSpc>
                <a:spcPts val="5760"/>
              </a:lnSpc>
              <a:buFont typeface="Arial" panose="020B0604020202020204"/>
              <a:buChar char="•"/>
            </a:pPr>
            <a:r>
              <a:rPr lang="en-US" sz="4115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Dashboard Visualizations</a:t>
            </a:r>
          </a:p>
          <a:p>
            <a:pPr marL="888365" lvl="1" indent="-444500" algn="l">
              <a:lnSpc>
                <a:spcPts val="5760"/>
              </a:lnSpc>
              <a:buFont typeface="Arial" panose="020B0604020202020204"/>
              <a:buChar char="•"/>
            </a:pPr>
            <a:r>
              <a:rPr lang="en-US" sz="4115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Applications &amp; Recommendations</a:t>
            </a:r>
          </a:p>
          <a:p>
            <a:pPr marL="888365" lvl="1" indent="-444500" algn="l">
              <a:lnSpc>
                <a:spcPts val="5760"/>
              </a:lnSpc>
              <a:buFont typeface="Arial" panose="020B0604020202020204"/>
              <a:buChar char="•"/>
            </a:pPr>
            <a:r>
              <a:rPr lang="en-US" sz="4115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Conclusion</a:t>
            </a:r>
          </a:p>
          <a:p>
            <a:pPr marL="888365" lvl="1" indent="-444500" algn="l">
              <a:lnSpc>
                <a:spcPts val="5760"/>
              </a:lnSpc>
              <a:buFont typeface="Arial" panose="020B0604020202020204"/>
              <a:buChar char="•"/>
            </a:pPr>
            <a:r>
              <a:rPr lang="en-US" sz="4115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Any Queries</a:t>
            </a:r>
          </a:p>
          <a:p>
            <a:pPr algn="l">
              <a:lnSpc>
                <a:spcPts val="5760"/>
              </a:lnSpc>
            </a:pPr>
            <a:endParaRPr lang="en-US" sz="4115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l">
              <a:lnSpc>
                <a:spcPts val="5760"/>
              </a:lnSpc>
            </a:pPr>
            <a:endParaRPr lang="en-US" sz="4115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028700" y="609420"/>
            <a:ext cx="1566889" cy="1590016"/>
          </a:xfrm>
          <a:custGeom>
            <a:avLst/>
            <a:gdLst/>
            <a:ahLst/>
            <a:cxnLst/>
            <a:rect l="l" t="t" r="r" b="b"/>
            <a:pathLst>
              <a:path w="1566889" h="1590016">
                <a:moveTo>
                  <a:pt x="0" y="0"/>
                </a:moveTo>
                <a:lnTo>
                  <a:pt x="1566889" y="0"/>
                </a:lnTo>
                <a:lnTo>
                  <a:pt x="1566889" y="1590017"/>
                </a:lnTo>
                <a:lnTo>
                  <a:pt x="0" y="15900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21348" y="9277476"/>
            <a:ext cx="4838096" cy="1009524"/>
            <a:chOff x="0" y="0"/>
            <a:chExt cx="6450794" cy="13460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2833949" y="410256"/>
            <a:ext cx="15773400" cy="1988344"/>
            <a:chOff x="0" y="0"/>
            <a:chExt cx="21031200" cy="2651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30"/>
                </a:lnSpc>
              </a:pPr>
              <a:r>
                <a:rPr lang="en-US" sz="6600" b="1">
                  <a:solidFill>
                    <a:srgbClr val="FF000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Project Overview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812144" y="2517443"/>
            <a:ext cx="15876977" cy="7617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5475" lvl="1" indent="-313055">
              <a:lnSpc>
                <a:spcPts val="4635"/>
              </a:lnSpc>
              <a:buFont typeface="Arial" panose="020B0604020202020204"/>
              <a:buChar char="•"/>
            </a:pPr>
            <a:r>
              <a:rPr lang="en-US" sz="3200" b="1" dirty="0"/>
              <a:t>Developed a Power BI dashboard to analyze multi-year financial data from Income Statement, Balance Sheet, and Cash Flow reports.</a:t>
            </a:r>
          </a:p>
          <a:p>
            <a:pPr marL="625475" lvl="1" indent="-313055">
              <a:lnSpc>
                <a:spcPts val="4635"/>
              </a:lnSpc>
              <a:buFont typeface="Arial" panose="020B0604020202020204"/>
              <a:buChar char="•"/>
            </a:pPr>
            <a:r>
              <a:rPr lang="en-US" sz="3200" b="1" dirty="0"/>
              <a:t>Consolidated financial metrics such as Revenue, Net Income, Assets, Liabilities, and Cash Flow from multiple company datasets.</a:t>
            </a:r>
          </a:p>
          <a:p>
            <a:pPr marL="625475" lvl="1" indent="-313055">
              <a:lnSpc>
                <a:spcPts val="4635"/>
              </a:lnSpc>
              <a:buFont typeface="Arial" panose="020B0604020202020204"/>
              <a:buChar char="•"/>
            </a:pPr>
            <a:r>
              <a:rPr lang="en-US" sz="3200" b="1" dirty="0"/>
              <a:t>Built a star schema model with Date and Stock tables for efficient relationships and accurate time-based analysis.</a:t>
            </a:r>
          </a:p>
          <a:p>
            <a:pPr marL="625475" lvl="1" indent="-313055">
              <a:lnSpc>
                <a:spcPts val="4635"/>
              </a:lnSpc>
              <a:buFont typeface="Arial" panose="020B0604020202020204"/>
              <a:buChar char="•"/>
            </a:pPr>
            <a:r>
              <a:rPr lang="en-US" sz="3200" b="1" dirty="0"/>
              <a:t>Created DAX measures for key performance indicators — Gross Margin %, Operating Income, Free Cash Flow, and Debt-to-Equity Ratio.</a:t>
            </a:r>
          </a:p>
          <a:p>
            <a:pPr marL="625475" lvl="1" indent="-313055">
              <a:lnSpc>
                <a:spcPts val="4635"/>
              </a:lnSpc>
              <a:buFont typeface="Arial" panose="020B0604020202020204"/>
              <a:buChar char="•"/>
            </a:pPr>
            <a:r>
              <a:rPr lang="en-US" sz="3200" b="1" dirty="0"/>
              <a:t>Designed 5 interactive dashboards covering overall performance, profitability, financial structure, liquidity, and comparative analysis.</a:t>
            </a:r>
          </a:p>
          <a:p>
            <a:pPr marL="625475" lvl="1" indent="-313055">
              <a:lnSpc>
                <a:spcPts val="4635"/>
              </a:lnSpc>
              <a:buFont typeface="Arial" panose="020B0604020202020204"/>
              <a:buChar char="•"/>
            </a:pPr>
            <a:r>
              <a:rPr lang="en-US" sz="3600" b="1" dirty="0"/>
              <a:t>Enabled decision-makers to identify high-performing companies, analyze growth trends, and assess financial stability across industries.</a:t>
            </a:r>
            <a:endParaRPr lang="en-US" sz="3205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l">
              <a:lnSpc>
                <a:spcPts val="4635"/>
              </a:lnSpc>
            </a:pPr>
            <a:endParaRPr lang="en-US" sz="3205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028700" y="609420"/>
            <a:ext cx="1566889" cy="1590016"/>
          </a:xfrm>
          <a:custGeom>
            <a:avLst/>
            <a:gdLst/>
            <a:ahLst/>
            <a:cxnLst/>
            <a:rect l="l" t="t" r="r" b="b"/>
            <a:pathLst>
              <a:path w="1566889" h="1590016">
                <a:moveTo>
                  <a:pt x="0" y="0"/>
                </a:moveTo>
                <a:lnTo>
                  <a:pt x="1566889" y="0"/>
                </a:lnTo>
                <a:lnTo>
                  <a:pt x="1566889" y="1590017"/>
                </a:lnTo>
                <a:lnTo>
                  <a:pt x="0" y="15900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21348" y="9277476"/>
            <a:ext cx="4838096" cy="1009524"/>
            <a:chOff x="0" y="0"/>
            <a:chExt cx="6450794" cy="13460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2833949" y="410256"/>
            <a:ext cx="15773400" cy="1988344"/>
            <a:chOff x="0" y="0"/>
            <a:chExt cx="21031200" cy="2651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30"/>
                </a:lnSpc>
              </a:pPr>
              <a:r>
                <a:rPr lang="en-US" sz="6600" b="1">
                  <a:solidFill>
                    <a:srgbClr val="FF000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Data Source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812144" y="2469659"/>
            <a:ext cx="20960428" cy="7141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Dataset Name: </a:t>
            </a:r>
            <a:r>
              <a:rPr lang="en-IN" sz="2800" dirty="0"/>
              <a:t>Financial Statement Dataset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Source: Kaggle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File Type: Excel file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IN" sz="2800" b="1" dirty="0"/>
              <a:t> Number of Datasets:</a:t>
            </a:r>
            <a:r>
              <a:rPr lang="en-IN" sz="2800" dirty="0"/>
              <a:t> 6 individual files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/>
              <a:t>incomeStatementHistory_annually.csv</a:t>
            </a:r>
            <a:endParaRPr lang="en-IN" sz="4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/>
              <a:t>incomeStatementHistory_quarterly.csv</a:t>
            </a:r>
            <a:endParaRPr lang="en-IN" sz="4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/>
              <a:t>balanceSheetHistory_annually.csv</a:t>
            </a:r>
            <a:endParaRPr lang="en-IN" sz="4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/>
              <a:t>balanceSheetHistory_quarterly.csv</a:t>
            </a:r>
            <a:endParaRPr lang="en-IN" sz="4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/>
              <a:t>cashflowStatement_annually.csv</a:t>
            </a:r>
            <a:endParaRPr lang="en-IN" sz="4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/>
              <a:t>cashflowStatement_quarterly.csv</a:t>
            </a:r>
            <a:endParaRPr lang="en-US" sz="28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/>
              <a:t>Total Records:</a:t>
            </a:r>
            <a:r>
              <a:rPr lang="en-US" sz="2800" dirty="0"/>
              <a:t> ~10,000 financial records (combined)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/>
              <a:t>Total Columns:</a:t>
            </a:r>
            <a:r>
              <a:rPr lang="en-US" sz="2800" dirty="0"/>
              <a:t> 20–30 per file (covering Revenue, Net Income, Assets, Liabilities, Cash Flow, etc.)</a:t>
            </a:r>
            <a:endParaRPr lang="en-US" sz="28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endParaRPr lang="en-IN" sz="2800" dirty="0"/>
          </a:p>
          <a:p>
            <a:pPr algn="l">
              <a:lnSpc>
                <a:spcPts val="4480"/>
              </a:lnSpc>
            </a:pPr>
            <a:endParaRPr lang="en-US" sz="28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028700" y="609420"/>
            <a:ext cx="1566889" cy="1590016"/>
          </a:xfrm>
          <a:custGeom>
            <a:avLst/>
            <a:gdLst/>
            <a:ahLst/>
            <a:cxnLst/>
            <a:rect l="l" t="t" r="r" b="b"/>
            <a:pathLst>
              <a:path w="1566889" h="1590016">
                <a:moveTo>
                  <a:pt x="0" y="0"/>
                </a:moveTo>
                <a:lnTo>
                  <a:pt x="1566889" y="0"/>
                </a:lnTo>
                <a:lnTo>
                  <a:pt x="1566889" y="1590017"/>
                </a:lnTo>
                <a:lnTo>
                  <a:pt x="0" y="15900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21348" y="9277476"/>
            <a:ext cx="4838096" cy="1009524"/>
            <a:chOff x="0" y="0"/>
            <a:chExt cx="6450794" cy="13460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2833949" y="410256"/>
            <a:ext cx="15773400" cy="1988344"/>
            <a:chOff x="0" y="0"/>
            <a:chExt cx="21031200" cy="2651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30"/>
                </a:lnSpc>
              </a:pPr>
              <a:r>
                <a:rPr lang="en-US" sz="6600" b="1">
                  <a:solidFill>
                    <a:srgbClr val="FF000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Data Preparation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582906" y="2274776"/>
            <a:ext cx="20960428" cy="6864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0" lvl="1" indent="-302260" algn="just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Loaded 6 CSV files — Income Statement, Balance Sheet, and Cash Flow (both annual and quarterly) </a:t>
            </a:r>
          </a:p>
          <a:p>
            <a:pPr marL="302260" lvl="1" algn="just">
              <a:lnSpc>
                <a:spcPts val="448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into Power BI.</a:t>
            </a:r>
          </a:p>
          <a:p>
            <a:pPr marL="604520" lvl="1" indent="-302260" algn="just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nulls and duplicates, standardized date formats, and converted text fields into numeric data</a:t>
            </a:r>
          </a:p>
          <a:p>
            <a:pPr marL="302260" lvl="1" algn="just">
              <a:lnSpc>
                <a:spcPts val="448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types.</a:t>
            </a:r>
          </a:p>
          <a:p>
            <a:pPr marL="604520" lvl="1" indent="-302260" algn="just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Merged annual and quarterly datasets, aligned columns by stock and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endDate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unified financial </a:t>
            </a:r>
          </a:p>
          <a:p>
            <a:pPr marL="302260" lvl="1" algn="just">
              <a:lnSpc>
                <a:spcPts val="448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metrics.</a:t>
            </a:r>
          </a:p>
          <a:p>
            <a:pPr marL="604520" lvl="1" indent="-302260" algn="just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new calculated fields such as Gross Margin %, Free Cash Flow, and Debt-to-Equity Ratio </a:t>
            </a:r>
          </a:p>
          <a:p>
            <a:pPr marL="302260" lvl="1" algn="just">
              <a:lnSpc>
                <a:spcPts val="448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using DAX.</a:t>
            </a:r>
          </a:p>
          <a:p>
            <a:pPr marL="604520" lvl="1" indent="-302260" algn="just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Date, Stock, and Stack tables to establish a clean Star Schema with one-to-many relationships.</a:t>
            </a:r>
          </a:p>
          <a:p>
            <a:pPr marL="604520" lvl="1" indent="-302260" algn="just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measure accuracy across all dashboards and ensured consistency between annual and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quar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2260" lvl="1" algn="just">
              <a:lnSpc>
                <a:spcPts val="448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terly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results</a:t>
            </a:r>
            <a:r>
              <a:rPr lang="en-US" sz="2000" b="1" dirty="0"/>
              <a:t>.</a:t>
            </a:r>
            <a:endParaRPr lang="en-US" sz="20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l">
              <a:lnSpc>
                <a:spcPts val="4480"/>
              </a:lnSpc>
            </a:pPr>
            <a:endParaRPr lang="en-US" sz="28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028700" y="609420"/>
            <a:ext cx="1566889" cy="1590016"/>
          </a:xfrm>
          <a:custGeom>
            <a:avLst/>
            <a:gdLst/>
            <a:ahLst/>
            <a:cxnLst/>
            <a:rect l="l" t="t" r="r" b="b"/>
            <a:pathLst>
              <a:path w="1566889" h="1590016">
                <a:moveTo>
                  <a:pt x="0" y="0"/>
                </a:moveTo>
                <a:lnTo>
                  <a:pt x="1566889" y="0"/>
                </a:lnTo>
                <a:lnTo>
                  <a:pt x="1566889" y="1590017"/>
                </a:lnTo>
                <a:lnTo>
                  <a:pt x="0" y="15900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27473E-9F45-F62B-F0D2-D3A251ABBFA2}"/>
              </a:ext>
            </a:extLst>
          </p:cNvPr>
          <p:cNvSpPr txBox="1"/>
          <p:nvPr/>
        </p:nvSpPr>
        <p:spPr>
          <a:xfrm>
            <a:off x="2438398" y="190500"/>
            <a:ext cx="381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dirty="0">
                <a:solidFill>
                  <a:srgbClr val="FF0000"/>
                </a:solidFill>
              </a:rPr>
              <a:t>Data Model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56056FF-3EAE-97CE-9819-C44BE2D6FA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409700"/>
            <a:ext cx="16459201" cy="8534400"/>
          </a:xfrm>
          <a:prstGeom prst="rect">
            <a:avLst/>
          </a:prstGeom>
        </p:spPr>
      </p:pic>
      <p:sp>
        <p:nvSpPr>
          <p:cNvPr id="5" name="Freeform 8">
            <a:extLst>
              <a:ext uri="{FF2B5EF4-FFF2-40B4-BE49-F238E27FC236}">
                <a16:creationId xmlns:a16="http://schemas.microsoft.com/office/drawing/2014/main" id="{BF290621-4D3C-D570-087D-B6ED4F87D3D1}"/>
              </a:ext>
            </a:extLst>
          </p:cNvPr>
          <p:cNvSpPr/>
          <p:nvPr/>
        </p:nvSpPr>
        <p:spPr>
          <a:xfrm>
            <a:off x="1047749" y="190500"/>
            <a:ext cx="1257300" cy="923330"/>
          </a:xfrm>
          <a:custGeom>
            <a:avLst/>
            <a:gdLst/>
            <a:ahLst/>
            <a:cxnLst/>
            <a:rect l="l" t="t" r="r" b="b"/>
            <a:pathLst>
              <a:path w="1566889" h="1590016">
                <a:moveTo>
                  <a:pt x="0" y="0"/>
                </a:moveTo>
                <a:lnTo>
                  <a:pt x="1566889" y="0"/>
                </a:lnTo>
                <a:lnTo>
                  <a:pt x="1566889" y="1590017"/>
                </a:lnTo>
                <a:lnTo>
                  <a:pt x="0" y="15900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7494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21348" y="9277476"/>
            <a:ext cx="4838096" cy="1009524"/>
            <a:chOff x="0" y="0"/>
            <a:chExt cx="6450794" cy="13460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2833949" y="410256"/>
            <a:ext cx="15773400" cy="1988344"/>
            <a:chOff x="0" y="0"/>
            <a:chExt cx="21031200" cy="2651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30"/>
                </a:lnSpc>
              </a:pPr>
              <a:r>
                <a:rPr lang="en-US" sz="6600" b="1">
                  <a:solidFill>
                    <a:srgbClr val="FF000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Dashboard Visualizations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11561" y="2470785"/>
            <a:ext cx="20960428" cy="5888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600"/>
              </a:lnSpc>
            </a:pPr>
            <a:r>
              <a:rPr lang="en-US" sz="35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1. </a:t>
            </a:r>
            <a:r>
              <a:rPr lang="en-IN" sz="3600" b="1" dirty="0"/>
              <a:t>Financial Performance Dashboard</a:t>
            </a:r>
            <a:endParaRPr lang="en-US" sz="35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Visuals Used:</a:t>
            </a:r>
            <a:br>
              <a:rPr lang="en-US" sz="2800" b="1" dirty="0"/>
            </a:br>
            <a:r>
              <a:rPr lang="en-US" sz="2800" b="1" dirty="0"/>
              <a:t>Bar Chart → Top Companies by Net Income</a:t>
            </a:r>
            <a:br>
              <a:rPr lang="en-US" sz="2800" b="1" dirty="0"/>
            </a:br>
            <a:r>
              <a:rPr lang="en-US" sz="2800" b="1" dirty="0"/>
              <a:t>Combo Chart → Total Assets vs Total Liabilities</a:t>
            </a:r>
            <a:br>
              <a:rPr lang="en-US" sz="2800" b="1" dirty="0"/>
            </a:br>
            <a:r>
              <a:rPr lang="en-US" sz="2800" b="1" dirty="0"/>
              <a:t>Line Chart → Cash &amp; Equivalents Growth</a:t>
            </a:r>
            <a:br>
              <a:rPr lang="en-US" sz="2800" b="1" dirty="0"/>
            </a:br>
            <a:r>
              <a:rPr lang="en-US" sz="2800" b="1" dirty="0"/>
              <a:t>Line Chart → Retained Earnings Over Time</a:t>
            </a:r>
            <a:br>
              <a:rPr lang="en-US" sz="2800" b="1" dirty="0"/>
            </a:br>
            <a:r>
              <a:rPr lang="en-US" sz="2800" b="1" dirty="0"/>
              <a:t>Column Chart → Total Revenue by Company &amp; Year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Cards → </a:t>
            </a:r>
            <a:r>
              <a:rPr lang="en-US" sz="2800" b="1" dirty="0"/>
              <a:t>Total Revenue, Net Income, Total Assets, Total Liabilities, Revenue Growth YoY</a:t>
            </a:r>
            <a:endParaRPr lang="en-US" sz="28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Purpose: </a:t>
            </a:r>
            <a:r>
              <a:rPr lang="en-US" sz="2800" b="1" dirty="0"/>
              <a:t>To provide an overall view of financial health, showing profitability, asset growth, and 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/>
              <a:t>company-wise revenue trends over multiple years.</a:t>
            </a:r>
            <a:endParaRPr lang="en-US" sz="28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028700" y="609420"/>
            <a:ext cx="1566889" cy="1590016"/>
          </a:xfrm>
          <a:custGeom>
            <a:avLst/>
            <a:gdLst/>
            <a:ahLst/>
            <a:cxnLst/>
            <a:rect l="l" t="t" r="r" b="b"/>
            <a:pathLst>
              <a:path w="1566889" h="1590016">
                <a:moveTo>
                  <a:pt x="0" y="0"/>
                </a:moveTo>
                <a:lnTo>
                  <a:pt x="1566889" y="0"/>
                </a:lnTo>
                <a:lnTo>
                  <a:pt x="1566889" y="1590017"/>
                </a:lnTo>
                <a:lnTo>
                  <a:pt x="0" y="15900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21348" y="9277476"/>
            <a:ext cx="4838096" cy="1009524"/>
            <a:chOff x="0" y="0"/>
            <a:chExt cx="6450794" cy="13460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2833949" y="410256"/>
            <a:ext cx="15773400" cy="1988344"/>
            <a:chOff x="0" y="0"/>
            <a:chExt cx="21031200" cy="2651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30"/>
                </a:lnSpc>
              </a:pPr>
              <a:r>
                <a:rPr lang="en-US" sz="6600" b="1">
                  <a:solidFill>
                    <a:srgbClr val="FF000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Dashboard Visualizations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11561" y="2470785"/>
            <a:ext cx="20960428" cy="5860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600"/>
              </a:lnSpc>
            </a:pPr>
            <a:r>
              <a:rPr lang="en-US" sz="35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2. </a:t>
            </a:r>
            <a:r>
              <a:rPr lang="en-IN" sz="3600" b="1" dirty="0"/>
              <a:t>Income Statement Analysis Dashboard</a:t>
            </a:r>
            <a:endParaRPr lang="en-US" sz="35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Visuals Used: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/>
              <a:t>Heatmap → Gross Profit Margin % by Year and Company 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/>
              <a:t>Column Chart → Operating Income by Year and Stock 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IN" sz="2800" b="1" dirty="0"/>
              <a:t>Scatter Chart → Revenue vs Net Income Trends 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 err="1"/>
              <a:t>Treemap</a:t>
            </a:r>
            <a:r>
              <a:rPr lang="en-US" sz="2800" b="1" dirty="0"/>
              <a:t> → Cost of Revenue by Company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/>
              <a:t>Table → Loss Companies with Net Income &amp; Margin details</a:t>
            </a: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Slicers → Year, Stock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Purpose:</a:t>
            </a:r>
            <a:r>
              <a:rPr lang="en-US" sz="2800" dirty="0"/>
              <a:t> </a:t>
            </a:r>
            <a:r>
              <a:rPr lang="en-US" sz="2800" b="1" dirty="0"/>
              <a:t>To analyze company-level profitability, operational efficiency, and cost structure across</a:t>
            </a:r>
          </a:p>
          <a:p>
            <a:pPr marL="302260" lvl="1">
              <a:lnSpc>
                <a:spcPts val="4480"/>
              </a:lnSpc>
            </a:pPr>
            <a:r>
              <a:rPr lang="en-US" sz="2800" b="1" dirty="0"/>
              <a:t>    multiple years.</a:t>
            </a:r>
            <a:endParaRPr lang="en-US" sz="28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028700" y="609420"/>
            <a:ext cx="1566889" cy="1590016"/>
          </a:xfrm>
          <a:custGeom>
            <a:avLst/>
            <a:gdLst/>
            <a:ahLst/>
            <a:cxnLst/>
            <a:rect l="l" t="t" r="r" b="b"/>
            <a:pathLst>
              <a:path w="1566889" h="1590016">
                <a:moveTo>
                  <a:pt x="0" y="0"/>
                </a:moveTo>
                <a:lnTo>
                  <a:pt x="1566889" y="0"/>
                </a:lnTo>
                <a:lnTo>
                  <a:pt x="1566889" y="1590017"/>
                </a:lnTo>
                <a:lnTo>
                  <a:pt x="0" y="15900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21348" y="9277476"/>
            <a:ext cx="4838096" cy="1009524"/>
            <a:chOff x="0" y="0"/>
            <a:chExt cx="6450794" cy="13460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2833949" y="410256"/>
            <a:ext cx="15773400" cy="1988344"/>
            <a:chOff x="0" y="0"/>
            <a:chExt cx="21031200" cy="2651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30"/>
                </a:lnSpc>
              </a:pPr>
              <a:r>
                <a:rPr lang="en-US" sz="6600" b="1" dirty="0">
                  <a:solidFill>
                    <a:srgbClr val="FF000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Dashboard Visualizations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11561" y="2470785"/>
            <a:ext cx="20960428" cy="5282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600"/>
              </a:lnSpc>
            </a:pPr>
            <a:r>
              <a:rPr lang="en-US" sz="35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3. </a:t>
            </a:r>
            <a:r>
              <a:rPr lang="en-IN" sz="3600" b="1" dirty="0"/>
              <a:t>Cash Flow Analysis Dashboard</a:t>
            </a:r>
            <a:endParaRPr lang="en-US" sz="35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Visuals Used: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/>
              <a:t>Horizontal Bar Chart → Top 20 Companies by Operating Cash Flow 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/>
              <a:t>Table → Negative Free Cash Flow Companies (with icons &amp; performance highlights) 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/>
              <a:t>Area Chart → Capital Expenditure Trend 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/>
              <a:t>Clustered Bar Chart → Operating vs Investing vs Financing CF (Top 15 companies) 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Cards → </a:t>
            </a:r>
            <a:r>
              <a:rPr lang="en-US" sz="2800" b="1" dirty="0"/>
              <a:t>Operating CF, Investing CF, Financing CF, </a:t>
            </a:r>
            <a:r>
              <a:rPr lang="en-US" sz="2800" b="1" dirty="0" err="1"/>
              <a:t>CapEx</a:t>
            </a:r>
            <a:r>
              <a:rPr lang="en-US" sz="2800" b="1" dirty="0"/>
              <a:t>, Free Cash Flow</a:t>
            </a:r>
            <a:endParaRPr lang="en-US" sz="28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Purpose: </a:t>
            </a:r>
            <a:r>
              <a:rPr lang="en-US" sz="2800" b="1" dirty="0"/>
              <a:t>To evaluate cash generation efficiency, investment spending, and financing strategies across</a:t>
            </a:r>
          </a:p>
          <a:p>
            <a:pPr marL="302260" lvl="1">
              <a:lnSpc>
                <a:spcPts val="4480"/>
              </a:lnSpc>
            </a:pPr>
            <a:r>
              <a:rPr lang="en-US" sz="2800" b="1" dirty="0"/>
              <a:t>                      companies.</a:t>
            </a:r>
            <a:endParaRPr lang="en-US" sz="28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028700" y="609420"/>
            <a:ext cx="1566889" cy="1590016"/>
          </a:xfrm>
          <a:custGeom>
            <a:avLst/>
            <a:gdLst/>
            <a:ahLst/>
            <a:cxnLst/>
            <a:rect l="l" t="t" r="r" b="b"/>
            <a:pathLst>
              <a:path w="1566889" h="1590016">
                <a:moveTo>
                  <a:pt x="0" y="0"/>
                </a:moveTo>
                <a:lnTo>
                  <a:pt x="1566889" y="0"/>
                </a:lnTo>
                <a:lnTo>
                  <a:pt x="1566889" y="1590017"/>
                </a:lnTo>
                <a:lnTo>
                  <a:pt x="0" y="15900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21348" y="9277476"/>
            <a:ext cx="4838096" cy="1009524"/>
            <a:chOff x="0" y="0"/>
            <a:chExt cx="6450794" cy="13460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2833949" y="410256"/>
            <a:ext cx="15773400" cy="1988344"/>
            <a:chOff x="0" y="0"/>
            <a:chExt cx="21031200" cy="2651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30"/>
                </a:lnSpc>
              </a:pPr>
              <a:r>
                <a:rPr lang="en-US" sz="6600" b="1" dirty="0">
                  <a:solidFill>
                    <a:srgbClr val="FF000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Dashboard Visualizations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11561" y="2470785"/>
            <a:ext cx="20960428" cy="5860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600"/>
              </a:lnSpc>
            </a:pPr>
            <a:r>
              <a:rPr lang="en-US" sz="35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4. </a:t>
            </a:r>
            <a:r>
              <a:rPr lang="en-IN" sz="3600" b="1" dirty="0"/>
              <a:t>Comparative &amp; KPI Analysis Dashboard</a:t>
            </a:r>
            <a:endParaRPr lang="en-US" sz="35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Visuals Used: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/>
              <a:t>Line Chart → Growth Consistency Analysis (Revenue, Income, and Assets)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/>
              <a:t>Bar Chart → Net Income Leaders by </a:t>
            </a:r>
            <a:r>
              <a:rPr lang="en-US" sz="2800" b="1" dirty="0" err="1"/>
              <a:t>YearArea</a:t>
            </a:r>
            <a:r>
              <a:rPr lang="en-US" sz="2800" b="1" dirty="0"/>
              <a:t> Chart → Capital Expenditure Trend 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IN" sz="2800" b="1" dirty="0"/>
              <a:t>Gauge → Gross Profit Margin %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/>
              <a:t>Column Chart → Revenue Growth YoY by Year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IN" sz="2800" b="1" dirty="0"/>
              <a:t>Donut Chart → End-Date Distribution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Cards → </a:t>
            </a:r>
            <a:r>
              <a:rPr lang="en-US" sz="2800" b="1" dirty="0"/>
              <a:t>Total Revenue, Net Income, Total Assets, Revenue Growth YoY, Net Income YoY %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Purpose: </a:t>
            </a:r>
            <a:r>
              <a:rPr lang="en-US" sz="2800" b="1" dirty="0"/>
              <a:t>To compare financial performance across multiple years and companies, tracking consistency</a:t>
            </a:r>
          </a:p>
          <a:p>
            <a:pPr marL="302260" lvl="1">
              <a:lnSpc>
                <a:spcPts val="4480"/>
              </a:lnSpc>
            </a:pPr>
            <a:r>
              <a:rPr lang="en-US" sz="2800" b="1" dirty="0"/>
              <a:t>    in growth and profitability.</a:t>
            </a:r>
            <a:endParaRPr lang="en-US" sz="28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028700" y="609420"/>
            <a:ext cx="1566889" cy="1590016"/>
          </a:xfrm>
          <a:custGeom>
            <a:avLst/>
            <a:gdLst/>
            <a:ahLst/>
            <a:cxnLst/>
            <a:rect l="l" t="t" r="r" b="b"/>
            <a:pathLst>
              <a:path w="1566889" h="1590016">
                <a:moveTo>
                  <a:pt x="0" y="0"/>
                </a:moveTo>
                <a:lnTo>
                  <a:pt x="1566889" y="0"/>
                </a:lnTo>
                <a:lnTo>
                  <a:pt x="1566889" y="1590017"/>
                </a:lnTo>
                <a:lnTo>
                  <a:pt x="0" y="15900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BAC4B-2571-0C95-B5D0-2C338C6E5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2C78B8E-3C72-4EB7-261B-081EFFD9B281}"/>
              </a:ext>
            </a:extLst>
          </p:cNvPr>
          <p:cNvGrpSpPr/>
          <p:nvPr/>
        </p:nvGrpSpPr>
        <p:grpSpPr>
          <a:xfrm>
            <a:off x="13221348" y="9277476"/>
            <a:ext cx="4838096" cy="1009524"/>
            <a:chOff x="0" y="0"/>
            <a:chExt cx="6450794" cy="134603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5B73E9C-2E30-D285-EC0D-E53DD79D1458}"/>
                </a:ext>
              </a:extLst>
            </p:cNvPr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6A0ACAD3-6F82-DBB0-E647-DF506213EE8A}"/>
              </a:ext>
            </a:extLst>
          </p:cNvPr>
          <p:cNvGrpSpPr/>
          <p:nvPr/>
        </p:nvGrpSpPr>
        <p:grpSpPr>
          <a:xfrm>
            <a:off x="2833949" y="410256"/>
            <a:ext cx="15773400" cy="1988344"/>
            <a:chOff x="0" y="0"/>
            <a:chExt cx="21031200" cy="2651126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A6C2AC5-FE09-770C-1D44-32F464F30487}"/>
                </a:ext>
              </a:extLst>
            </p:cNvPr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E871E463-C969-8DB3-C9A7-1ED45CD711C7}"/>
                </a:ext>
              </a:extLst>
            </p:cNvPr>
            <p:cNvSpPr txBox="1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30"/>
                </a:lnSpc>
              </a:pPr>
              <a:r>
                <a:rPr lang="en-US" sz="6600" b="1" dirty="0">
                  <a:solidFill>
                    <a:srgbClr val="FF000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Dashboard Visualizations</a:t>
              </a:r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BE6A0AA6-102B-53D8-9E76-1A42B7F11490}"/>
              </a:ext>
            </a:extLst>
          </p:cNvPr>
          <p:cNvSpPr txBox="1"/>
          <p:nvPr/>
        </p:nvSpPr>
        <p:spPr>
          <a:xfrm>
            <a:off x="1611561" y="2470785"/>
            <a:ext cx="20960428" cy="4705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600"/>
              </a:lnSpc>
            </a:pPr>
            <a:r>
              <a:rPr lang="en-US" sz="35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5. </a:t>
            </a:r>
            <a:r>
              <a:rPr lang="en-IN" sz="3600" b="1" dirty="0"/>
              <a:t>Balance Sheet Evaluation Dashboard </a:t>
            </a:r>
            <a:r>
              <a:rPr lang="en-US" sz="28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Visuals Used: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/>
              <a:t>Line Chart →</a:t>
            </a:r>
            <a:r>
              <a:rPr lang="en-US" sz="2800" dirty="0"/>
              <a:t> Total Liabilities Evolution over time 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/>
              <a:t>Clustered Bar Chart →</a:t>
            </a:r>
            <a:r>
              <a:rPr lang="en-US" sz="2800" dirty="0"/>
              <a:t> Debt vs Equity Comparison by company 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/>
              <a:t>Column Chart →</a:t>
            </a:r>
            <a:r>
              <a:rPr lang="en-US" sz="2800" dirty="0"/>
              <a:t> Total Assets by Year and Stock (with increase/decrease indicators) 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/>
              <a:t>Donut Chart →</a:t>
            </a:r>
            <a:r>
              <a:rPr lang="en-US" sz="2800" dirty="0"/>
              <a:t> Capital Structure Composition (Debt and Equity share by company) 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/>
              <a:t>Line Chart →</a:t>
            </a:r>
            <a:r>
              <a:rPr lang="en-US" sz="2800" dirty="0"/>
              <a:t> Debt-to-Equity Ratio Trends across companies 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Purpose: </a:t>
            </a:r>
            <a:r>
              <a:rPr lang="en-US" sz="2800" dirty="0"/>
              <a:t>To evaluate a company’s </a:t>
            </a:r>
            <a:r>
              <a:rPr lang="en-US" sz="2800" b="1" dirty="0"/>
              <a:t>financial structure and stability</a:t>
            </a:r>
            <a:r>
              <a:rPr lang="en-US" sz="2800" dirty="0"/>
              <a:t> by comparing </a:t>
            </a:r>
            <a:r>
              <a:rPr lang="en-US" sz="2800" b="1" dirty="0"/>
              <a:t>assets, liabilities, debt,</a:t>
            </a:r>
          </a:p>
          <a:p>
            <a:pPr marL="302260" lvl="1">
              <a:lnSpc>
                <a:spcPts val="4480"/>
              </a:lnSpc>
            </a:pPr>
            <a:r>
              <a:rPr lang="en-US" sz="2800" b="1" dirty="0"/>
              <a:t>    and equity</a:t>
            </a:r>
            <a:r>
              <a:rPr lang="en-US" sz="2800" dirty="0"/>
              <a:t> across years</a:t>
            </a:r>
            <a:endParaRPr lang="en-US" sz="28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5B75DF5-C2DE-3BA1-2D59-A7F561FD7E4B}"/>
              </a:ext>
            </a:extLst>
          </p:cNvPr>
          <p:cNvSpPr/>
          <p:nvPr/>
        </p:nvSpPr>
        <p:spPr>
          <a:xfrm>
            <a:off x="1028700" y="609420"/>
            <a:ext cx="1566889" cy="1590016"/>
          </a:xfrm>
          <a:custGeom>
            <a:avLst/>
            <a:gdLst/>
            <a:ahLst/>
            <a:cxnLst/>
            <a:rect l="l" t="t" r="r" b="b"/>
            <a:pathLst>
              <a:path w="1566889" h="1590016">
                <a:moveTo>
                  <a:pt x="0" y="0"/>
                </a:moveTo>
                <a:lnTo>
                  <a:pt x="1566889" y="0"/>
                </a:lnTo>
                <a:lnTo>
                  <a:pt x="1566889" y="1590017"/>
                </a:lnTo>
                <a:lnTo>
                  <a:pt x="0" y="15900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9620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AA81B47-4DDF-B6CC-756B-938325C98C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 dashboard&#10;&#10;AI-generated content may be incorrect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screen&#10;&#10;AI-generated content may be incorrect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9B91330-ABC2-6EC9-0BBB-83BA336E0B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4404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4925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21348" y="9277476"/>
            <a:ext cx="4838096" cy="1009524"/>
            <a:chOff x="0" y="0"/>
            <a:chExt cx="6450794" cy="13460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2833949" y="410256"/>
            <a:ext cx="15773400" cy="1988344"/>
            <a:chOff x="0" y="0"/>
            <a:chExt cx="21031200" cy="2651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30"/>
                </a:lnSpc>
              </a:pPr>
              <a:r>
                <a:rPr lang="en-US" sz="6600" b="1">
                  <a:solidFill>
                    <a:srgbClr val="FF000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Applications &amp; Recommendations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11561" y="2470785"/>
            <a:ext cx="20960428" cy="4128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35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Applications</a:t>
            </a:r>
          </a:p>
          <a:p>
            <a:pPr marL="759460" lvl="1" indent="-457200">
              <a:lnSpc>
                <a:spcPts val="448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Helps management evaluate company performance across Revenue, Profitability, Assets, and Cash Flow </a:t>
            </a:r>
          </a:p>
          <a:p>
            <a:pPr marL="302260" lvl="1">
              <a:lnSpc>
                <a:spcPts val="4480"/>
              </a:lnSpc>
            </a:pPr>
            <a:r>
              <a:rPr lang="en-US" sz="2800" dirty="0"/>
              <a:t>     for better strategic planning. </a:t>
            </a:r>
          </a:p>
          <a:p>
            <a:pPr marL="759460" lvl="1" indent="-457200">
              <a:lnSpc>
                <a:spcPts val="448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Enables comparison between companies to identify </a:t>
            </a:r>
            <a:r>
              <a:rPr lang="en-US" sz="2800" b="1" dirty="0"/>
              <a:t>industry leaders</a:t>
            </a:r>
            <a:r>
              <a:rPr lang="en-US" sz="2800" dirty="0"/>
              <a:t> and </a:t>
            </a:r>
            <a:r>
              <a:rPr lang="en-US" sz="2800" b="1" dirty="0"/>
              <a:t>underperformers</a:t>
            </a:r>
            <a:r>
              <a:rPr lang="en-US" sz="2800" dirty="0"/>
              <a:t> using KPIs like </a:t>
            </a:r>
          </a:p>
          <a:p>
            <a:pPr marL="302260" lvl="1">
              <a:lnSpc>
                <a:spcPts val="4480"/>
              </a:lnSpc>
            </a:pPr>
            <a:r>
              <a:rPr lang="en-US" sz="2800" dirty="0"/>
              <a:t>     Net Income, Free Cash Flow, and Debt Ratios.</a:t>
            </a:r>
          </a:p>
          <a:p>
            <a:pPr marL="759460" lvl="1" indent="-457200">
              <a:lnSpc>
                <a:spcPts val="448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Assists investors and analysts in tracking </a:t>
            </a:r>
            <a:r>
              <a:rPr lang="en-US" sz="2800" b="1" dirty="0"/>
              <a:t>financial consistency</a:t>
            </a:r>
            <a:r>
              <a:rPr lang="en-US" sz="2800" dirty="0"/>
              <a:t>, </a:t>
            </a:r>
            <a:r>
              <a:rPr lang="en-US" sz="2800" b="1" dirty="0"/>
              <a:t>growth potential</a:t>
            </a:r>
            <a:r>
              <a:rPr lang="en-US" sz="2800" dirty="0"/>
              <a:t>, and </a:t>
            </a:r>
            <a:r>
              <a:rPr lang="en-US" sz="2800" b="1" dirty="0"/>
              <a:t>risk levels</a:t>
            </a:r>
            <a:r>
              <a:rPr lang="en-US" sz="2800" dirty="0"/>
              <a:t> before </a:t>
            </a:r>
          </a:p>
          <a:p>
            <a:pPr marL="302260" lvl="1">
              <a:lnSpc>
                <a:spcPts val="4480"/>
              </a:lnSpc>
            </a:pPr>
            <a:r>
              <a:rPr lang="en-US" sz="2800" dirty="0"/>
              <a:t>      making portfolio decisions.</a:t>
            </a:r>
            <a:endParaRPr lang="en-US" sz="28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028700" y="609420"/>
            <a:ext cx="1566889" cy="1590016"/>
          </a:xfrm>
          <a:custGeom>
            <a:avLst/>
            <a:gdLst/>
            <a:ahLst/>
            <a:cxnLst/>
            <a:rect l="l" t="t" r="r" b="b"/>
            <a:pathLst>
              <a:path w="1566889" h="1590016">
                <a:moveTo>
                  <a:pt x="0" y="0"/>
                </a:moveTo>
                <a:lnTo>
                  <a:pt x="1566889" y="0"/>
                </a:lnTo>
                <a:lnTo>
                  <a:pt x="1566889" y="1590017"/>
                </a:lnTo>
                <a:lnTo>
                  <a:pt x="0" y="15900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1634046" y="6341756"/>
            <a:ext cx="20960428" cy="2397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35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Recommendations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dirty="0"/>
              <a:t>Focus on improving </a:t>
            </a:r>
            <a:r>
              <a:rPr lang="en-US" sz="2800" b="1" dirty="0"/>
              <a:t>profit margins</a:t>
            </a:r>
            <a:r>
              <a:rPr lang="en-US" sz="2800" dirty="0"/>
              <a:t> and </a:t>
            </a:r>
            <a:r>
              <a:rPr lang="en-US" sz="2800" b="1" dirty="0"/>
              <a:t>cash flow efficiency</a:t>
            </a:r>
            <a:r>
              <a:rPr lang="en-US" sz="2800" dirty="0"/>
              <a:t>.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dirty="0"/>
              <a:t>Reduce </a:t>
            </a:r>
            <a:r>
              <a:rPr lang="en-US" sz="2800" b="1" dirty="0"/>
              <a:t>debt dependence</a:t>
            </a:r>
            <a:r>
              <a:rPr lang="en-US" sz="2800" dirty="0"/>
              <a:t> to strengthen balance sheet stability.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dirty="0"/>
              <a:t>Maintain </a:t>
            </a:r>
            <a:r>
              <a:rPr lang="en-US" sz="2800" b="1" dirty="0"/>
              <a:t>steady capital expenditure</a:t>
            </a:r>
            <a:r>
              <a:rPr lang="en-US" sz="2800" dirty="0"/>
              <a:t> to support long-term asset growth.</a:t>
            </a:r>
            <a:endParaRPr lang="en-US" sz="28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21348" y="9277476"/>
            <a:ext cx="4838096" cy="1009524"/>
            <a:chOff x="0" y="0"/>
            <a:chExt cx="6450794" cy="13460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2833949" y="410256"/>
            <a:ext cx="15773400" cy="1988344"/>
            <a:chOff x="0" y="0"/>
            <a:chExt cx="21031200" cy="2651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30"/>
                </a:lnSpc>
              </a:pPr>
              <a:r>
                <a:rPr lang="en-US" sz="6600" b="1">
                  <a:solidFill>
                    <a:srgbClr val="FF000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Conclusion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397229" y="2413483"/>
            <a:ext cx="16662215" cy="6873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/>
              <a:t>The Power BI dashboards provided a complete view of company performance across Income Statement, Balance Sheet, and Cash Flow data.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/>
              <a:t>Enabled accurate tracking of Revenue, Profitability, Assets, Liabilities, and Cash Flow over time for multiple companies.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/>
              <a:t>Helped identify high-performing companies, financial risks, and investment opportunities through interactive KPIs and visuals.</a:t>
            </a:r>
            <a:r>
              <a:rPr lang="en-US" sz="28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.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/>
              <a:t>Revealed consistent growth in top firms like AAPL, JPM, and MSFT, while some companies showed weaker free cash flow trends. 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/>
              <a:t>Power BI’s dynamic visuals and DAX-driven measures simplified complex financial analysis into easy-to-understand dashboards.</a:t>
            </a:r>
            <a:r>
              <a:rPr lang="en-US" sz="28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.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/>
              <a:t>The project successfully transformed raw financial data into actionable business insights, enabling smarter financial decisions and strategic planning.</a:t>
            </a:r>
            <a:endParaRPr lang="en-US" sz="28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028700" y="609420"/>
            <a:ext cx="1566889" cy="1590016"/>
          </a:xfrm>
          <a:custGeom>
            <a:avLst/>
            <a:gdLst/>
            <a:ahLst/>
            <a:cxnLst/>
            <a:rect l="l" t="t" r="r" b="b"/>
            <a:pathLst>
              <a:path w="1566889" h="1590016">
                <a:moveTo>
                  <a:pt x="0" y="0"/>
                </a:moveTo>
                <a:lnTo>
                  <a:pt x="1566889" y="0"/>
                </a:lnTo>
                <a:lnTo>
                  <a:pt x="1566889" y="1590017"/>
                </a:lnTo>
                <a:lnTo>
                  <a:pt x="0" y="15900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21348" y="9277476"/>
            <a:ext cx="4838096" cy="1009524"/>
            <a:chOff x="0" y="0"/>
            <a:chExt cx="6450794" cy="13460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Freeform 4"/>
          <p:cNvSpPr/>
          <p:nvPr/>
        </p:nvSpPr>
        <p:spPr>
          <a:xfrm>
            <a:off x="4324759" y="0"/>
            <a:ext cx="9638483" cy="9780748"/>
          </a:xfrm>
          <a:custGeom>
            <a:avLst/>
            <a:gdLst/>
            <a:ahLst/>
            <a:cxnLst/>
            <a:rect l="l" t="t" r="r" b="b"/>
            <a:pathLst>
              <a:path w="9638483" h="9780748">
                <a:moveTo>
                  <a:pt x="0" y="0"/>
                </a:moveTo>
                <a:lnTo>
                  <a:pt x="9638482" y="0"/>
                </a:lnTo>
                <a:lnTo>
                  <a:pt x="9638482" y="9780748"/>
                </a:lnTo>
                <a:lnTo>
                  <a:pt x="0" y="97807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0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4880917" y="3050286"/>
            <a:ext cx="8526165" cy="4215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875"/>
              </a:lnSpc>
            </a:pPr>
            <a:r>
              <a:rPr lang="en-US" sz="14700" b="1">
                <a:solidFill>
                  <a:srgbClr val="FFBD59"/>
                </a:solidFill>
                <a:latin typeface="Poppins Ultra-Bold" panose="00000900000000000000"/>
                <a:ea typeface="Poppins Ultra-Bold" panose="00000900000000000000"/>
                <a:cs typeface="Poppins Ultra-Bold" panose="00000900000000000000"/>
                <a:sym typeface="Poppins Ultra-Bold" panose="00000900000000000000"/>
              </a:rPr>
              <a:t>ANY</a:t>
            </a:r>
          </a:p>
          <a:p>
            <a:pPr algn="ctr">
              <a:lnSpc>
                <a:spcPts val="15875"/>
              </a:lnSpc>
              <a:spcBef>
                <a:spcPct val="0"/>
              </a:spcBef>
            </a:pPr>
            <a:r>
              <a:rPr lang="en-US" sz="14700" b="1">
                <a:solidFill>
                  <a:srgbClr val="FFBD59"/>
                </a:solidFill>
                <a:latin typeface="Poppins Ultra-Bold" panose="00000900000000000000"/>
                <a:ea typeface="Poppins Ultra-Bold" panose="00000900000000000000"/>
                <a:cs typeface="Poppins Ultra-Bold" panose="00000900000000000000"/>
                <a:sym typeface="Poppins Ultra-Bold" panose="00000900000000000000"/>
              </a:rPr>
              <a:t>Queries?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21348" y="9277476"/>
            <a:ext cx="4838096" cy="1009524"/>
            <a:chOff x="0" y="0"/>
            <a:chExt cx="6450794" cy="13460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699774" y="2776124"/>
            <a:ext cx="6698464" cy="4251475"/>
            <a:chOff x="0" y="0"/>
            <a:chExt cx="8931286" cy="566863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31275" cy="5668645"/>
            </a:xfrm>
            <a:custGeom>
              <a:avLst/>
              <a:gdLst/>
              <a:ahLst/>
              <a:cxnLst/>
              <a:rect l="l" t="t" r="r" b="b"/>
              <a:pathLst>
                <a:path w="8931275" h="5668645">
                  <a:moveTo>
                    <a:pt x="0" y="0"/>
                  </a:moveTo>
                  <a:lnTo>
                    <a:pt x="8931275" y="0"/>
                  </a:lnTo>
                  <a:lnTo>
                    <a:pt x="8931275" y="5668645"/>
                  </a:lnTo>
                  <a:lnTo>
                    <a:pt x="0" y="56686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958325" y="4541500"/>
            <a:ext cx="5309904" cy="1062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>
                <a:solidFill>
                  <a:srgbClr val="C00000"/>
                </a:solidFill>
                <a:latin typeface="Libre Baskerville" panose="02000000000000000000"/>
                <a:ea typeface="Libre Baskerville" panose="02000000000000000000"/>
                <a:cs typeface="Libre Baskerville" panose="02000000000000000000"/>
                <a:sym typeface="Libre Baskerville" panose="0200000000000000000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1032</Words>
  <Application>Microsoft Office PowerPoint</Application>
  <PresentationFormat>Custom</PresentationFormat>
  <Paragraphs>112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Poppins Ultra-Bold</vt:lpstr>
      <vt:lpstr>League Spartan</vt:lpstr>
      <vt:lpstr>Libre Baskerville</vt:lpstr>
      <vt:lpstr>Times New Roman Bold</vt:lpstr>
      <vt:lpstr>Times New Roman</vt:lpstr>
      <vt:lpstr>Calibri (MS)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Analysis</dc:title>
  <dc:creator>Sandeep6601</dc:creator>
  <cp:lastModifiedBy>nagasri bathula</cp:lastModifiedBy>
  <cp:revision>5</cp:revision>
  <dcterms:created xsi:type="dcterms:W3CDTF">2006-08-16T00:00:00Z</dcterms:created>
  <dcterms:modified xsi:type="dcterms:W3CDTF">2025-11-08T16:50:11Z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B97CA92725C248CAB8C685000D0D48DC_12</vt:lpwstr>
  </property>
  <property fmtid="{D5CDD505-2E9C-101B-9397-08002B2CF9AE}" pid="3" name="KSOProductBuildVer">
    <vt:lpwstr>1033-12.2.0.23155</vt:lpwstr>
  </property>
</Properties>
</file>